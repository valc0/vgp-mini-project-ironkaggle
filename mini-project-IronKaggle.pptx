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2DA4A8-9952-466A-BCAD-828EEDA873F5}">
  <a:tblStyle styleId="{A12DA4A8-9952-466A-BCAD-828EEDA873F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53fe805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f53fe805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54c9aaaca_13_9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f54c9aaaca_13_9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54c9aaaca_13_9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4c9aaaca_13_45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f54c9aaaca_13_45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54c9aaaca_13_45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4c9aaaca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54c9aaaca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54c9aaac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54c9aaac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4c9aaaca_13_14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f54c9aaaca_13_14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f54c9aaaca_13_14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54c9aaaca_7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54c9aaaca_7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f54c9aaaca_7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54c9aaaca_7_3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54c9aaaca_7_3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f54c9aaaca_7_3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54c9aaaca_7_5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g3f54c9aaaca_7_5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f54c9aaaca_7_5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4c9aaaca_7_7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f54c9aaaca_7_7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54c9aaaca_7_7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54c9aaaca_7_11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g3f54c9aaaca_7_11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3f54c9aaaca_7_11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4c9aaaca_7_14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54c9aaaca_7_14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f54c9aaaca_7_14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54c9aaaca_7_17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2" name="Google Shape;322;g3f54c9aaaca_7_17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g3f54c9aaaca_7_17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54c9aaaca_7_18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g3f54c9aaaca_7_18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f54c9aaaca_7_18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54c9aaac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54c9aaac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54c9aaaca_2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54c9aaaca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4c9aaaca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54c9aaaca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54c9aaa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f54c9aaa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54c9aaac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f54c9aaac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54c9aaaca_1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f54c9aaaca_1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54c9aaaca_1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54c9aaaca_1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54c9aaaca_1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f54c9aaaca_1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4c9aaaca_1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f54c9aaaca_1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54c9aaaca_1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54c9aaaca_1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54c9aaaca_1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f54c9aaaca_1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 title="Seattle-Map-Washingt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1634" y="152400"/>
            <a:ext cx="4858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6"/>
          <p:cNvSpPr txBox="1"/>
          <p:nvPr/>
        </p:nvSpPr>
        <p:spPr>
          <a:xfrm>
            <a:off x="0" y="941300"/>
            <a:ext cx="4141500" cy="29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dk1"/>
                </a:solidFill>
              </a:rPr>
              <a:t>House Price Prediction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Collaborators: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Victor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Jenifar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Octavian 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Yoan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Project Goal &amp; Roadmap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411480" y="1062990"/>
            <a:ext cx="81609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100"/>
              <a:buFont typeface="Calibri"/>
              <a:buNone/>
            </a:pPr>
            <a:r>
              <a:rPr i="1" lang="en" sz="11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Build a machine learning model that accurately predicts house sale prices from structured real-estate data, then explain which factors drive price the most.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41148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/>
          <p:nvPr/>
        </p:nvSpPr>
        <p:spPr>
          <a:xfrm>
            <a:off x="56235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56235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7"/>
          <p:cNvSpPr/>
          <p:nvPr/>
        </p:nvSpPr>
        <p:spPr>
          <a:xfrm>
            <a:off x="56235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Duplicates, missing values, date parsing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7"/>
          <p:cNvSpPr/>
          <p:nvPr/>
        </p:nvSpPr>
        <p:spPr>
          <a:xfrm>
            <a:off x="325755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340842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40842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Exploratory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7"/>
          <p:cNvSpPr/>
          <p:nvPr/>
        </p:nvSpPr>
        <p:spPr>
          <a:xfrm>
            <a:off x="340842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Correlations, distributions, multicollinearity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6103620" y="174879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6254496" y="184480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6254496" y="221513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Baseline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254496" y="248945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Linear Regression → XGBoost, raw features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41148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6235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56235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56235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Age of house, target-encoded zipcode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325755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340842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40842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Improved 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340842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Same six models, cleaned feature set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6103620" y="3257550"/>
            <a:ext cx="2606100" cy="1268700"/>
          </a:xfrm>
          <a:prstGeom prst="roundRect">
            <a:avLst>
              <a:gd fmla="val 4324" name="adj"/>
            </a:avLst>
          </a:prstGeom>
          <a:solidFill>
            <a:srgbClr val="F5F1EA"/>
          </a:solidFill>
          <a:ln>
            <a:noFill/>
          </a:ln>
          <a:effectLst>
            <a:outerShdw blurRad="57150" rotWithShape="0" algn="bl" dir="5400000" dist="19050">
              <a:srgbClr val="1B2A4A">
                <a:alpha val="1216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6254496" y="3353562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1700"/>
              <a:buFont typeface="Cambria"/>
              <a:buNone/>
            </a:pPr>
            <a:r>
              <a:rPr b="1" lang="en" sz="1700">
                <a:solidFill>
                  <a:srgbClr val="C97B4A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6254496" y="3723894"/>
            <a:ext cx="2304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Tuning &amp; Insights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6254496" y="3998214"/>
            <a:ext cx="23043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n_estimators sweep, feature importance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8457971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 Cleaning Steps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411470" y="1131575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534924" y="125501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534924" y="124129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877824" y="121386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Sanity check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877826" y="1488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Identified zero duplicate rows and zero missing values across all 21 raw columns, ensuring a completely solid modeling baseline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11470" y="2194550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534924" y="231800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534924" y="230428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877824" y="227685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Noise Reduction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877826" y="2551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Removed redundant indicators: database primary keys (id) and highly dimensional location classes (zipcode) that confuse KNN distance evaluations.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411470" y="3257550"/>
            <a:ext cx="8389500" cy="9051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34924" y="338099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34924" y="336727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877824" y="3339846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Time transformed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877826" y="361417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Converted text-based date timestamps into timeline_days, preserving chronological sale progressions as numeric trends.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8457971" y="485546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 title="heatma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77" y="1"/>
            <a:ext cx="838684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 title="DataLeak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10" y="-1"/>
            <a:ext cx="849505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Encoding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11475" y="1213875"/>
            <a:ext cx="8389500" cy="7887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/>
          <p:cNvSpPr/>
          <p:nvPr/>
        </p:nvSpPr>
        <p:spPr>
          <a:xfrm>
            <a:off x="534924" y="125501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534924" y="124129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1"/>
          <p:cNvSpPr/>
          <p:nvPr/>
        </p:nvSpPr>
        <p:spPr>
          <a:xfrm>
            <a:off x="877826" y="121387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explicit categorical columns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7825" y="1488175"/>
            <a:ext cx="7838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Our features contain zero string/text data types (object or category).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/>
          <p:nvPr/>
        </p:nvSpPr>
        <p:spPr>
          <a:xfrm>
            <a:off x="411475" y="2134400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/>
          <p:nvPr/>
        </p:nvSpPr>
        <p:spPr>
          <a:xfrm>
            <a:off x="534924" y="2175554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534924" y="2161838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877826" y="2134400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Naturally encoded binary features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877826" y="2408725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The waterfront column is already represented as binary integers (0 and 1). The column is already in the absolute perfect format for machine learning.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11475" y="3020625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34924" y="3061769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534924" y="3048053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877826" y="302062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Naturally encoded ordinal features</a:t>
            </a:r>
            <a:endParaRPr b="1" sz="10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877826" y="3294950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Converted text-based date timestamps into timeline_days, preserving chronological sale progressions as numeric trends.</a:t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342900" y="4235889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8457971" y="4235889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377250" y="3906725"/>
            <a:ext cx="8389500" cy="754500"/>
          </a:xfrm>
          <a:prstGeom prst="roundRect">
            <a:avLst>
              <a:gd fmla="val 5303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00699" y="3947869"/>
            <a:ext cx="246900" cy="246900"/>
          </a:xfrm>
          <a:prstGeom prst="roundRect">
            <a:avLst>
              <a:gd fmla="val 5000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500699" y="3934153"/>
            <a:ext cx="2469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843601" y="3906725"/>
            <a:ext cx="7838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0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Preserving mathematical "closeness" (using grade as an example)</a:t>
            </a:r>
            <a:endParaRPr b="1" sz="1000">
              <a:solidFill>
                <a:srgbClr val="1B2A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843601" y="4181050"/>
            <a:ext cx="7838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Keeping these numeric is crucial for our distance-based models. If we one-hot encoded them, the model would completely lose its ability to recognize that a grade 8 house is highly similar to a grade 9 house. Instead, the mathematical distance between grade 8 and 9 would look exactly the same as the distance between grade 2 and grade 11.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C728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2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Modeling Approach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2"/>
          <p:cNvSpPr/>
          <p:nvPr/>
        </p:nvSpPr>
        <p:spPr>
          <a:xfrm>
            <a:off x="411480" y="1028700"/>
            <a:ext cx="81610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Six regression models were trained and compared across three progressive experiments, always on an 80 / 20 train-test split (random_state = 42).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2"/>
          <p:cNvSpPr/>
          <p:nvPr/>
        </p:nvSpPr>
        <p:spPr>
          <a:xfrm>
            <a:off x="411480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/>
          <p:nvPr/>
        </p:nvSpPr>
        <p:spPr>
          <a:xfrm>
            <a:off x="411480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Regression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1796796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/>
          <p:nvPr/>
        </p:nvSpPr>
        <p:spPr>
          <a:xfrm>
            <a:off x="1796796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KNN Regressor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3182112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3182112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Tree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4567428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4567428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5952744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5952744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2"/>
          <p:cNvSpPr/>
          <p:nvPr/>
        </p:nvSpPr>
        <p:spPr>
          <a:xfrm>
            <a:off x="7338060" y="1543050"/>
            <a:ext cx="1268730" cy="582930"/>
          </a:xfrm>
          <a:prstGeom prst="roundRect">
            <a:avLst>
              <a:gd fmla="val 705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2"/>
          <p:cNvSpPr/>
          <p:nvPr/>
        </p:nvSpPr>
        <p:spPr>
          <a:xfrm>
            <a:off x="7338060" y="1543050"/>
            <a:ext cx="12687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22"/>
          <p:cNvGrpSpPr/>
          <p:nvPr/>
        </p:nvGrpSpPr>
        <p:grpSpPr>
          <a:xfrm>
            <a:off x="411480" y="2400300"/>
            <a:ext cx="2640330" cy="2297430"/>
            <a:chOff x="411480" y="2400300"/>
            <a:chExt cx="2640330" cy="2297430"/>
          </a:xfrm>
        </p:grpSpPr>
        <p:sp>
          <p:nvSpPr>
            <p:cNvPr id="177" name="Google Shape;177;p22"/>
            <p:cNvSpPr/>
            <p:nvPr/>
          </p:nvSpPr>
          <p:spPr>
            <a:xfrm>
              <a:off x="41148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2"/>
            <p:cNvSpPr/>
            <p:nvPr/>
          </p:nvSpPr>
          <p:spPr>
            <a:xfrm>
              <a:off x="58293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1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2"/>
            <p:cNvSpPr/>
            <p:nvPr/>
          </p:nvSpPr>
          <p:spPr>
            <a:xfrm>
              <a:off x="58293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Raw features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2"/>
            <p:cNvSpPr/>
            <p:nvPr/>
          </p:nvSpPr>
          <p:spPr>
            <a:xfrm>
              <a:off x="58293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Only the date column engineered (→ year, month). Everything else used as-is, including standardized re-runs for LR and KNN.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2"/>
          <p:cNvGrpSpPr/>
          <p:nvPr/>
        </p:nvGrpSpPr>
        <p:grpSpPr>
          <a:xfrm>
            <a:off x="3188970" y="2400300"/>
            <a:ext cx="2640330" cy="2297430"/>
            <a:chOff x="3188970" y="2400300"/>
            <a:chExt cx="2640330" cy="2297430"/>
          </a:xfrm>
        </p:grpSpPr>
        <p:sp>
          <p:nvSpPr>
            <p:cNvPr id="182" name="Google Shape;182;p22"/>
            <p:cNvSpPr/>
            <p:nvPr/>
          </p:nvSpPr>
          <p:spPr>
            <a:xfrm>
              <a:off x="318897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2"/>
            <p:cNvSpPr/>
            <p:nvPr/>
          </p:nvSpPr>
          <p:spPr>
            <a:xfrm>
              <a:off x="336042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2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2"/>
            <p:cNvSpPr/>
            <p:nvPr/>
          </p:nvSpPr>
          <p:spPr>
            <a:xfrm>
              <a:off x="336042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Redundant columns dropped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2"/>
            <p:cNvSpPr/>
            <p:nvPr/>
          </p:nvSpPr>
          <p:spPr>
            <a:xfrm>
              <a:off x="336042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id, sqft_above, month and sqft_basement removed before re-testing all six models.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22"/>
          <p:cNvGrpSpPr/>
          <p:nvPr/>
        </p:nvGrpSpPr>
        <p:grpSpPr>
          <a:xfrm>
            <a:off x="5966460" y="2400300"/>
            <a:ext cx="2640330" cy="2297430"/>
            <a:chOff x="5966460" y="2400300"/>
            <a:chExt cx="2640330" cy="2297430"/>
          </a:xfrm>
        </p:grpSpPr>
        <p:sp>
          <p:nvSpPr>
            <p:cNvPr id="187" name="Google Shape;187;p22"/>
            <p:cNvSpPr/>
            <p:nvPr/>
          </p:nvSpPr>
          <p:spPr>
            <a:xfrm>
              <a:off x="5966460" y="2400300"/>
              <a:ext cx="2640330" cy="2297430"/>
            </a:xfrm>
            <a:prstGeom prst="roundRect">
              <a:avLst>
                <a:gd fmla="val 2388" name="adj"/>
              </a:avLst>
            </a:prstGeom>
            <a:solidFill>
              <a:srgbClr val="F5F1E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2"/>
            <p:cNvSpPr/>
            <p:nvPr/>
          </p:nvSpPr>
          <p:spPr>
            <a:xfrm>
              <a:off x="6137910" y="2551176"/>
              <a:ext cx="2331720" cy="2400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97B4A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C97B4A"/>
                  </a:solidFill>
                  <a:latin typeface="Calibri"/>
                  <a:ea typeface="Calibri"/>
                  <a:cs typeface="Calibri"/>
                  <a:sym typeface="Calibri"/>
                </a:rPr>
                <a:t>Experiment 3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2"/>
            <p:cNvSpPr/>
            <p:nvPr/>
          </p:nvSpPr>
          <p:spPr>
            <a:xfrm>
              <a:off x="6137910" y="2777490"/>
              <a:ext cx="2331720" cy="377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B2A4A"/>
                </a:buClr>
                <a:buSzPts val="1100"/>
                <a:buFont typeface="Cambria"/>
                <a:buNone/>
              </a:pPr>
              <a:r>
                <a:rPr b="1" lang="en" sz="1100">
                  <a:solidFill>
                    <a:srgbClr val="1B2A4A"/>
                  </a:solidFill>
                  <a:latin typeface="Cambria"/>
                  <a:ea typeface="Cambria"/>
                  <a:cs typeface="Cambria"/>
                  <a:sym typeface="Cambria"/>
                </a:rPr>
                <a:t>Full feature engineering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2"/>
            <p:cNvSpPr/>
            <p:nvPr/>
          </p:nvSpPr>
          <p:spPr>
            <a:xfrm>
              <a:off x="6137910" y="3188970"/>
              <a:ext cx="2331720" cy="13030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900"/>
                <a:buFont typeface="Calibri"/>
                <a:buNone/>
              </a:pPr>
              <a:r>
                <a:rPr lang="en" sz="9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Adds age_of_house and target-encoded zipcode; also drops the two most collinear columns, sqft_living15 and sqft_lot.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2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Baseline Results — Raw Features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62990"/>
            <a:ext cx="5280660" cy="363474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/>
          <p:nvPr/>
        </p:nvSpPr>
        <p:spPr>
          <a:xfrm>
            <a:off x="5795010" y="1062990"/>
            <a:ext cx="2948940" cy="3634740"/>
          </a:xfrm>
          <a:prstGeom prst="roundRect">
            <a:avLst>
              <a:gd fmla="val 1860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6000750" y="1234440"/>
            <a:ext cx="25374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 unscaled surprise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6000750" y="1543050"/>
            <a:ext cx="25374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lang="en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R² = 0.008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000750" y="1954530"/>
            <a:ext cx="25374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EAD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FBEAD9"/>
                </a:solidFill>
                <a:latin typeface="Calibri"/>
                <a:ea typeface="Calibri"/>
                <a:cs typeface="Calibri"/>
                <a:sym typeface="Calibri"/>
              </a:rPr>
              <a:t>Linear Regression on raw, unscaled features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6000750" y="2297430"/>
            <a:ext cx="253746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Large-magnitude columns (sqft_lot, price-scale features) and multicollinearity destabilised the raw linear fit — essentially a coefficient-scaling issue, not a real signal problem.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6000750" y="3120390"/>
            <a:ext cx="253746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Tree-based models were unaffected by scale: Decision Tree, Random Forest, Gradient Boosting and XGBoost all cleared R² = 0.75–0.87, confirming the dataset holds strong nonlinear signal even before any feature engineering.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FOCUS: LINEAR REGRESSION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Train vs Test, Before and After Scaling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411480" y="102870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Same model, same split — only the feature scale changes. Train and test move together in both cases, which is the real signature of a numerical fix, not overfitting correction.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543050"/>
            <a:ext cx="528066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4"/>
          <p:cNvSpPr/>
          <p:nvPr/>
        </p:nvSpPr>
        <p:spPr>
          <a:xfrm>
            <a:off x="5795010" y="1543050"/>
            <a:ext cx="2948940" cy="3154680"/>
          </a:xfrm>
          <a:prstGeom prst="roundRect">
            <a:avLst>
              <a:gd fmla="val 1860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6000750" y="1693926"/>
            <a:ext cx="25374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792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E3B792"/>
                </a:solidFill>
                <a:latin typeface="Calibri"/>
                <a:ea typeface="Calibri"/>
                <a:cs typeface="Calibri"/>
                <a:sym typeface="Calibri"/>
              </a:rPr>
              <a:t>Reading the two bars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6000750" y="2125980"/>
            <a:ext cx="25374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Before scaling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6000750" y="2276856"/>
            <a:ext cx="25374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3C"/>
              </a:buClr>
              <a:buSzPts val="1100"/>
              <a:buFont typeface="Cambria"/>
              <a:buNone/>
            </a:pPr>
            <a:r>
              <a:rPr b="1" lang="en" sz="1100">
                <a:solidFill>
                  <a:srgbClr val="B5533C"/>
                </a:solidFill>
                <a:latin typeface="Cambria"/>
                <a:ea typeface="Cambria"/>
                <a:cs typeface="Cambria"/>
                <a:sym typeface="Cambria"/>
              </a:rPr>
              <a:t>Train 0.009  ·  Test 0.008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6000750" y="2523750"/>
            <a:ext cx="2537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≈ 0.008 —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not a sign of a well-fit model. Both scores are bad, meaning the solver failed to fit anything at all, on either set.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6000750" y="3120390"/>
            <a:ext cx="25374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After scaling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6000750" y="3271266"/>
            <a:ext cx="253746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66"/>
              </a:buClr>
              <a:buSzPts val="1100"/>
              <a:buFont typeface="Cambria"/>
              <a:buNone/>
            </a:pPr>
            <a:r>
              <a:rPr b="1" lang="en" sz="1100">
                <a:solidFill>
                  <a:srgbClr val="5C8A66"/>
                </a:solidFill>
                <a:latin typeface="Cambria"/>
                <a:ea typeface="Cambria"/>
                <a:cs typeface="Cambria"/>
                <a:sym typeface="Cambria"/>
              </a:rPr>
              <a:t>Train 0.701  ·  Test 0.703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6000750" y="3518154"/>
            <a:ext cx="25374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r>
              <a:rPr lang="en" sz="8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 ≈ 0.7 —  both scores are acceptable. The model is fitting real signal on both sets.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6000750" y="4114800"/>
            <a:ext cx="2537460" cy="10287"/>
          </a:xfrm>
          <a:prstGeom prst="rect">
            <a:avLst/>
          </a:prstGeom>
          <a:solidFill>
            <a:srgbClr val="2A3A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411480" y="288036"/>
            <a:ext cx="5486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DIAGNOSIS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Correcting the 0.008 Result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411480" y="1014984"/>
            <a:ext cx="81610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Initially read as a genuine model failure, fixed by scaling. Further investigation found a version-specific bug behind both.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411480" y="1405890"/>
            <a:ext cx="5006400" cy="685800"/>
          </a:xfrm>
          <a:prstGeom prst="roundRect">
            <a:avLst>
              <a:gd fmla="val 7000" name="adj"/>
            </a:avLst>
          </a:prstGeom>
          <a:solidFill>
            <a:srgbClr val="121D33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905256" y="1481328"/>
            <a:ext cx="4389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533C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B5533C"/>
                </a:solidFill>
                <a:latin typeface="Calibri"/>
                <a:ea typeface="Calibri"/>
                <a:cs typeface="Calibri"/>
                <a:sym typeface="Calibri"/>
              </a:rPr>
              <a:t>1  ·  OBSERVED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905256" y="1632204"/>
            <a:ext cx="43891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Raw Linear Regression scored R² = 0.008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905256" y="1824228"/>
            <a:ext cx="43891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0DE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C7D0DE"/>
                </a:solidFill>
                <a:latin typeface="Calibri"/>
                <a:ea typeface="Calibri"/>
                <a:cs typeface="Calibri"/>
                <a:sym typeface="Calibri"/>
              </a:rPr>
              <a:t>Looked like a complete model failure — most coefficients collapsed near zero and the intercept ($527,691) did almost all the predicting.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1" name="Google Shape;241;p25"/>
          <p:cNvGrpSpPr/>
          <p:nvPr/>
        </p:nvGrpSpPr>
        <p:grpSpPr>
          <a:xfrm>
            <a:off x="430755" y="2914650"/>
            <a:ext cx="5006340" cy="685800"/>
            <a:chOff x="411480" y="2914650"/>
            <a:chExt cx="5006340" cy="685800"/>
          </a:xfrm>
        </p:grpSpPr>
        <p:sp>
          <p:nvSpPr>
            <p:cNvPr id="242" name="Google Shape;242;p25"/>
            <p:cNvSpPr/>
            <p:nvPr/>
          </p:nvSpPr>
          <p:spPr>
            <a:xfrm>
              <a:off x="411480" y="2914650"/>
              <a:ext cx="5006340" cy="685800"/>
            </a:xfrm>
            <a:prstGeom prst="roundRect">
              <a:avLst>
                <a:gd fmla="val 700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5"/>
            <p:cNvSpPr/>
            <p:nvPr/>
          </p:nvSpPr>
          <p:spPr>
            <a:xfrm>
              <a:off x="534924" y="3010662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5"/>
            <p:cNvSpPr/>
            <p:nvPr/>
          </p:nvSpPr>
          <p:spPr>
            <a:xfrm>
              <a:off x="905256" y="2990088"/>
              <a:ext cx="43891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7285"/>
                </a:buClr>
                <a:buSzPts val="700"/>
                <a:buFont typeface="Calibri"/>
                <a:buNone/>
              </a:pPr>
              <a:r>
                <a:rPr b="1" lang="en" sz="700">
                  <a:solidFill>
                    <a:srgbClr val="5C7285"/>
                  </a:solidFill>
                  <a:latin typeface="Calibri"/>
                  <a:ea typeface="Calibri"/>
                  <a:cs typeface="Calibri"/>
                  <a:sym typeface="Calibri"/>
                </a:rPr>
                <a:t>3  ·  REAL ROOT CAUSE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5"/>
            <p:cNvSpPr/>
            <p:nvPr/>
          </p:nvSpPr>
          <p:spPr>
            <a:xfrm>
              <a:off x="905256" y="3140964"/>
              <a:ext cx="43891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The id column, not scaling in general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905256" y="3332988"/>
              <a:ext cx="4389120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id is a 10-digit identifier (up to 9.9B) beside features like bedrooms (0–33). That scale gap, combined with numpy 2.5.1 / scikit-learn 1.9.0, made the least-squares solve ill-conditioned.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25"/>
          <p:cNvGrpSpPr/>
          <p:nvPr/>
        </p:nvGrpSpPr>
        <p:grpSpPr>
          <a:xfrm>
            <a:off x="430730" y="3669030"/>
            <a:ext cx="5006400" cy="685800"/>
            <a:chOff x="411505" y="3669030"/>
            <a:chExt cx="5006400" cy="685800"/>
          </a:xfrm>
        </p:grpSpPr>
        <p:sp>
          <p:nvSpPr>
            <p:cNvPr id="248" name="Google Shape;248;p25"/>
            <p:cNvSpPr/>
            <p:nvPr/>
          </p:nvSpPr>
          <p:spPr>
            <a:xfrm>
              <a:off x="411505" y="3669030"/>
              <a:ext cx="5006400" cy="685800"/>
            </a:xfrm>
            <a:prstGeom prst="roundRect">
              <a:avLst>
                <a:gd fmla="val 700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534924" y="3765042"/>
              <a:ext cx="274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905256" y="3744468"/>
              <a:ext cx="438912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8A66"/>
                </a:buClr>
                <a:buSzPts val="700"/>
                <a:buFont typeface="Calibri"/>
                <a:buNone/>
              </a:pPr>
              <a:r>
                <a:rPr b="1" lang="en" sz="700">
                  <a:solidFill>
                    <a:srgbClr val="5C8A66"/>
                  </a:solidFill>
                  <a:latin typeface="Calibri"/>
                  <a:ea typeface="Calibri"/>
                  <a:cs typeface="Calibri"/>
                  <a:sym typeface="Calibri"/>
                </a:rPr>
                <a:t>4  ·  CONFIRMED &amp; RESOLVED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5"/>
            <p:cNvSpPr/>
            <p:nvPr/>
          </p:nvSpPr>
          <p:spPr>
            <a:xfrm>
              <a:off x="905256" y="3895344"/>
              <a:ext cx="438912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Calibri"/>
                <a:buNone/>
              </a:pPr>
              <a:r>
                <a:rPr b="1" lang="en" sz="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Dropping id alone → R² = 0.703, no scaling needed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905256" y="4087368"/>
              <a:ext cx="4389000" cy="24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Proves the fix was never about scaling broadly — it was one meaningless identifier column exposing a version-specific numerical bug.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25"/>
          <p:cNvGrpSpPr/>
          <p:nvPr/>
        </p:nvGrpSpPr>
        <p:grpSpPr>
          <a:xfrm>
            <a:off x="5589270" y="1405890"/>
            <a:ext cx="3120390" cy="2948940"/>
            <a:chOff x="5589270" y="1405890"/>
            <a:chExt cx="3120390" cy="2948940"/>
          </a:xfrm>
        </p:grpSpPr>
        <p:sp>
          <p:nvSpPr>
            <p:cNvPr id="254" name="Google Shape;254;p25"/>
            <p:cNvSpPr/>
            <p:nvPr/>
          </p:nvSpPr>
          <p:spPr>
            <a:xfrm>
              <a:off x="5589270" y="1405890"/>
              <a:ext cx="3120390" cy="2948940"/>
            </a:xfrm>
            <a:prstGeom prst="roundRect">
              <a:avLst>
                <a:gd fmla="val 1860" name="adj"/>
              </a:avLst>
            </a:prstGeom>
            <a:solidFill>
              <a:srgbClr val="121D33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5760720" y="1543050"/>
              <a:ext cx="2777490" cy="2057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B792"/>
                </a:buClr>
                <a:buSzPts val="800"/>
                <a:buFont typeface="Calibri"/>
                <a:buNone/>
              </a:pPr>
              <a:r>
                <a:rPr b="1" lang="en" sz="800">
                  <a:solidFill>
                    <a:srgbClr val="E3B792"/>
                  </a:solidFill>
                  <a:latin typeface="Calibri"/>
                  <a:ea typeface="Calibri"/>
                  <a:cs typeface="Calibri"/>
                  <a:sym typeface="Calibri"/>
                </a:rPr>
                <a:t>VERSION IMPACT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5760720" y="1831086"/>
              <a:ext cx="277749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7BD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9AA7BD"/>
                  </a:solidFill>
                  <a:latin typeface="Calibri"/>
                  <a:ea typeface="Calibri"/>
                  <a:cs typeface="Calibri"/>
                  <a:sym typeface="Calibri"/>
                </a:rPr>
                <a:t>numpy 2.5.1  +  scikit-learn 1.7.2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760720" y="2002536"/>
              <a:ext cx="2777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C8A66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5C8A66"/>
                  </a:solidFill>
                  <a:latin typeface="Cambria"/>
                  <a:ea typeface="Cambria"/>
                  <a:cs typeface="Cambria"/>
                  <a:sym typeface="Cambria"/>
                </a:rPr>
                <a:t>R² = 0.703  </a:t>
              </a:r>
              <a:r>
                <a:rPr lang="en" sz="1200">
                  <a:solidFill>
                    <a:srgbClr val="9AA7BD"/>
                  </a:solidFill>
                  <a:latin typeface="Cambria"/>
                  <a:ea typeface="Cambria"/>
                  <a:cs typeface="Cambria"/>
                  <a:sym typeface="Cambria"/>
                </a:rPr>
                <a:t>(id included, unscaled)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5760720" y="2400300"/>
              <a:ext cx="2777490" cy="1645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9AA7BD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9AA7BD"/>
                  </a:solidFill>
                  <a:latin typeface="Calibri"/>
                  <a:ea typeface="Calibri"/>
                  <a:cs typeface="Calibri"/>
                  <a:sym typeface="Calibri"/>
                </a:rPr>
                <a:t>numpy 2.5.1  +  scikit-learn 1.9.0  (project env)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5760720" y="2571750"/>
              <a:ext cx="27774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5533C"/>
                </a:buClr>
                <a:buSzPts val="1200"/>
                <a:buFont typeface="Cambria"/>
                <a:buNone/>
              </a:pPr>
              <a:r>
                <a:rPr b="1" lang="en" sz="1200">
                  <a:solidFill>
                    <a:srgbClr val="B5533C"/>
                  </a:solidFill>
                  <a:latin typeface="Cambria"/>
                  <a:ea typeface="Cambria"/>
                  <a:cs typeface="Cambria"/>
                  <a:sym typeface="Cambria"/>
                </a:rPr>
                <a:t>R² = 0.008  </a:t>
              </a:r>
              <a:r>
                <a:rPr lang="en" sz="1200">
                  <a:solidFill>
                    <a:srgbClr val="9AA7BD"/>
                  </a:solidFill>
                  <a:latin typeface="Cambria"/>
                  <a:ea typeface="Cambria"/>
                  <a:cs typeface="Cambria"/>
                  <a:sym typeface="Cambria"/>
                </a:rPr>
                <a:t>(id included, unscaled)</a:t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5760720" y="2969514"/>
              <a:ext cx="2777490" cy="10287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5760720" y="3065526"/>
              <a:ext cx="2777490" cy="1920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B792"/>
                </a:buClr>
                <a:buSzPts val="800"/>
                <a:buFont typeface="Calibri"/>
                <a:buNone/>
              </a:pPr>
              <a:r>
                <a:rPr b="1" lang="en" sz="800">
                  <a:solidFill>
                    <a:srgbClr val="E3B792"/>
                  </a:solidFill>
                  <a:latin typeface="Calibri"/>
                  <a:ea typeface="Calibri"/>
                  <a:cs typeface="Calibri"/>
                  <a:sym typeface="Calibri"/>
                </a:rPr>
                <a:t>COEFFICIENT EVIDENCE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5760720" y="3271266"/>
              <a:ext cx="2777490" cy="9601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7D0DE"/>
                </a:buClr>
                <a:buSzPts val="700"/>
                <a:buFont typeface="Calibri"/>
                <a:buNone/>
              </a:pPr>
              <a:r>
                <a:rPr lang="en" sz="700">
                  <a:solidFill>
                    <a:srgbClr val="C7D0DE"/>
                  </a:solidFill>
                  <a:latin typeface="Calibri"/>
                  <a:ea typeface="Calibri"/>
                  <a:cs typeface="Calibri"/>
                  <a:sym typeface="Calibri"/>
                </a:rPr>
                <a:t>20 of 21 raw coefficients shrank to between 1e-6 and 1e-8; only sqft_lot (0.66) and year (0.35) stayed meaningful. Near-total coefficient collapse plus one runaway intercept is the signature of a numerically unstable solve — not genuinely weak predictors.</a:t>
              </a:r>
              <a:endParaRPr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25"/>
          <p:cNvGrpSpPr/>
          <p:nvPr/>
        </p:nvGrpSpPr>
        <p:grpSpPr>
          <a:xfrm>
            <a:off x="411480" y="4423410"/>
            <a:ext cx="8298180" cy="411480"/>
            <a:chOff x="411480" y="4423410"/>
            <a:chExt cx="8298180" cy="411480"/>
          </a:xfrm>
        </p:grpSpPr>
        <p:sp>
          <p:nvSpPr>
            <p:cNvPr id="264" name="Google Shape;264;p25"/>
            <p:cNvSpPr/>
            <p:nvPr/>
          </p:nvSpPr>
          <p:spPr>
            <a:xfrm>
              <a:off x="411480" y="4423410"/>
              <a:ext cx="8298180" cy="411480"/>
            </a:xfrm>
            <a:prstGeom prst="roundRect">
              <a:avLst>
                <a:gd fmla="val 10000" name="adj"/>
              </a:avLst>
            </a:prstGeom>
            <a:solidFill>
              <a:srgbClr val="C97B4A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617220" y="4423410"/>
              <a:ext cx="788670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Calibri"/>
                <a:buNone/>
              </a:pPr>
              <a:r>
                <a:rPr i="1" lang="en" sz="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Takeaway:  the “scaling fixes linear regression” story was half right for the wrong reason — the real fix was removing one meaningless identifier column that exposed a version-specific numerical bug, not a general scaling lesson.</a:t>
              </a:r>
              <a:endParaRPr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" name="Google Shape;266;p25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7BD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9AA7B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25"/>
          <p:cNvGrpSpPr/>
          <p:nvPr/>
        </p:nvGrpSpPr>
        <p:grpSpPr>
          <a:xfrm>
            <a:off x="411480" y="2149995"/>
            <a:ext cx="5006400" cy="685800"/>
            <a:chOff x="411480" y="2149995"/>
            <a:chExt cx="5006400" cy="685800"/>
          </a:xfrm>
        </p:grpSpPr>
        <p:grpSp>
          <p:nvGrpSpPr>
            <p:cNvPr id="269" name="Google Shape;269;p25"/>
            <p:cNvGrpSpPr/>
            <p:nvPr/>
          </p:nvGrpSpPr>
          <p:grpSpPr>
            <a:xfrm>
              <a:off x="411480" y="2149995"/>
              <a:ext cx="5006400" cy="685800"/>
              <a:chOff x="411480" y="2160270"/>
              <a:chExt cx="5006400" cy="685800"/>
            </a:xfrm>
          </p:grpSpPr>
          <p:sp>
            <p:nvSpPr>
              <p:cNvPr id="270" name="Google Shape;270;p25"/>
              <p:cNvSpPr/>
              <p:nvPr/>
            </p:nvSpPr>
            <p:spPr>
              <a:xfrm>
                <a:off x="411480" y="2160270"/>
                <a:ext cx="5006400" cy="685800"/>
              </a:xfrm>
              <a:prstGeom prst="roundRect">
                <a:avLst>
                  <a:gd fmla="val 7000" name="adj"/>
                </a:avLst>
              </a:prstGeom>
              <a:solidFill>
                <a:srgbClr val="121D33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5"/>
              <p:cNvSpPr/>
              <p:nvPr/>
            </p:nvSpPr>
            <p:spPr>
              <a:xfrm>
                <a:off x="534924" y="2256282"/>
                <a:ext cx="274200" cy="27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t/>
                </a:r>
                <a:endParaRPr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25"/>
              <p:cNvSpPr/>
              <p:nvPr/>
            </p:nvSpPr>
            <p:spPr>
              <a:xfrm>
                <a:off x="905256" y="2235708"/>
                <a:ext cx="4389000" cy="16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97B4A"/>
                  </a:buClr>
                  <a:buSzPts val="700"/>
                  <a:buFont typeface="Calibri"/>
                  <a:buNone/>
                </a:pPr>
                <a:r>
                  <a:rPr b="1" lang="en" sz="700">
                    <a:solidFill>
                      <a:srgbClr val="C97B4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  ·  LOOKED LIKE THE FIX</a:t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25"/>
              <p:cNvSpPr/>
              <p:nvPr/>
            </p:nvSpPr>
            <p:spPr>
              <a:xfrm>
                <a:off x="905256" y="2386584"/>
                <a:ext cx="4389000" cy="20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900"/>
                  <a:buFont typeface="Calibri"/>
                  <a:buNone/>
                </a:pPr>
                <a:r>
                  <a:rPr b="1" lang="en" sz="9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StandardScaler pushed R² to 0.703</a:t>
                </a:r>
                <a:endParaRPr sz="9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25"/>
              <p:cNvSpPr/>
              <p:nvPr/>
            </p:nvSpPr>
            <p:spPr>
              <a:xfrm>
                <a:off x="905256" y="2578608"/>
                <a:ext cx="4389000" cy="24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C7D0DE"/>
                  </a:buClr>
                  <a:buSzPts val="700"/>
                  <a:buFont typeface="Calibri"/>
                  <a:buNone/>
                </a:pPr>
                <a:r>
                  <a:rPr lang="en" sz="700">
                    <a:solidFill>
                      <a:srgbClr val="C7D0D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Matched the textbook story — “linear models need scaled features.” Result looked correct, so it wasn't questioned further at first.</a:t>
                </a:r>
                <a:endParaRPr sz="7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5" name="Google Shape;275;p25"/>
            <p:cNvSpPr/>
            <p:nvPr/>
          </p:nvSpPr>
          <p:spPr>
            <a:xfrm>
              <a:off x="430738" y="2204775"/>
              <a:ext cx="482700" cy="3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Calibri"/>
                <a:buNone/>
              </a:pPr>
              <a:r>
                <a:rPr b="1" lang="en" sz="11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5"/>
          <p:cNvSpPr/>
          <p:nvPr/>
        </p:nvSpPr>
        <p:spPr>
          <a:xfrm>
            <a:off x="430749" y="1544713"/>
            <a:ext cx="4827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ALL SIX MODELS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411480" y="480060"/>
            <a:ext cx="7955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Test R² — Before vs After Scaling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11480" y="1028700"/>
            <a:ext cx="81610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900"/>
              <a:buFont typeface="Calibri"/>
              <a:buNone/>
            </a:pPr>
            <a:r>
              <a:rPr i="1"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Scaling is a Linear Regression / KNN story. Tree-based ensembles are mathematically invariant to it — the small moves here are floating-point noise, not a real effect.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/>
          <p:nvPr/>
        </p:nvSpPr>
        <p:spPr>
          <a:xfrm>
            <a:off x="422918" y="4545330"/>
            <a:ext cx="8298300" cy="342900"/>
          </a:xfrm>
          <a:prstGeom prst="roundRect">
            <a:avLst>
              <a:gd fmla="val 12000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514293" y="4545330"/>
            <a:ext cx="7955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Only Linear Regression (+0.695) and KNN (+0.439) improve.  </a:t>
            </a: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Random Forest, Gradient Boosting and XGBoost are flat (± 0.001). Decision Tree drops slightly (−0.057) — floating-point tie-breaking in an unconstrained, unstable tree, not a scaling effect.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/>
          <p:nvPr/>
        </p:nvSpPr>
        <p:spPr>
          <a:xfrm>
            <a:off x="342900" y="4855464"/>
            <a:ext cx="4800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63" y="1558290"/>
            <a:ext cx="8111436" cy="29870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Feature Engineering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411480" y="1028700"/>
            <a:ext cx="81610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All engineering was applied after the train/test split, fit on training data only, to avoid leakage.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411480" y="147447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582930" y="162534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5C8A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582930" y="162534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82930" y="194081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age_of_house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82930" y="233172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= sale year − yr_built. Turns a weak raw signal (yr_built, corr 0.05) into a directly usable age feature.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4594860" y="147447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7"/>
          <p:cNvSpPr/>
          <p:nvPr/>
        </p:nvSpPr>
        <p:spPr>
          <a:xfrm>
            <a:off x="4766310" y="162534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5C8A6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4766310" y="162534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Encoded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4766310" y="194081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zipcode → zipcode_encoded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4766310" y="233172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Target-mean encoding: each zipcode replaced by the average training-set price for that area. Captures location value that raw zipcode numbers cannot.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411480" y="315468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7"/>
          <p:cNvSpPr/>
          <p:nvPr/>
        </p:nvSpPr>
        <p:spPr>
          <a:xfrm>
            <a:off x="582930" y="330555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B553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7"/>
          <p:cNvSpPr/>
          <p:nvPr/>
        </p:nvSpPr>
        <p:spPr>
          <a:xfrm>
            <a:off x="582930" y="330555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(redundant)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7"/>
          <p:cNvSpPr/>
          <p:nvPr/>
        </p:nvSpPr>
        <p:spPr>
          <a:xfrm>
            <a:off x="582930" y="362102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id, sqft_above, month, sqft_basement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582930" y="401193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Identifiers and columns largely reconstructable from other features.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4594860" y="3154680"/>
            <a:ext cx="4011930" cy="1508760"/>
          </a:xfrm>
          <a:prstGeom prst="roundRect">
            <a:avLst>
              <a:gd fmla="val 3636" name="adj"/>
            </a:avLst>
          </a:prstGeom>
          <a:solidFill>
            <a:srgbClr val="F5F1E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7"/>
          <p:cNvSpPr/>
          <p:nvPr/>
        </p:nvSpPr>
        <p:spPr>
          <a:xfrm>
            <a:off x="4766310" y="3305556"/>
            <a:ext cx="1303020" cy="246888"/>
          </a:xfrm>
          <a:prstGeom prst="roundRect">
            <a:avLst>
              <a:gd fmla="val 50000" name="adj"/>
            </a:avLst>
          </a:prstGeom>
          <a:solidFill>
            <a:srgbClr val="B553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4766310" y="3305556"/>
            <a:ext cx="130302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(collinear)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7"/>
          <p:cNvSpPr/>
          <p:nvPr/>
        </p:nvSpPr>
        <p:spPr>
          <a:xfrm>
            <a:off x="4766310" y="3621024"/>
            <a:ext cx="366903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mbria"/>
              <a:buNone/>
            </a:pPr>
            <a:r>
              <a:rPr b="1" lang="en" sz="12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sqft_living15, sqft_lot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4766310" y="4011930"/>
            <a:ext cx="366903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285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Highly correlated with sqft_living / sqft_lot15, adding noise without new information.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EXPERIMENT 3 RESULTS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Improved Model Comparison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28700"/>
            <a:ext cx="5417820" cy="31546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8" name="Google Shape;328;p28"/>
          <p:cNvGraphicFramePr/>
          <p:nvPr/>
        </p:nvGraphicFramePr>
        <p:xfrm>
          <a:off x="5966460" y="102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{A12DA4A8-9952-466A-BCAD-828EEDA873F5}</a:tableStyleId>
              </a:tblPr>
              <a:tblGrid>
                <a:gridCol w="1783075"/>
                <a:gridCol w="891525"/>
              </a:tblGrid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($)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 Regression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104,609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KNN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88,436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102,415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71,125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78,750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4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2A4A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72,098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5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28"/>
          <p:cNvSpPr/>
          <p:nvPr/>
        </p:nvSpPr>
        <p:spPr>
          <a:xfrm>
            <a:off x="5966460" y="3257550"/>
            <a:ext cx="2674620" cy="1474470"/>
          </a:xfrm>
          <a:prstGeom prst="roundRect">
            <a:avLst>
              <a:gd fmla="val 3721" name="adj"/>
            </a:avLst>
          </a:prstGeom>
          <a:solidFill>
            <a:srgbClr val="C97B4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8"/>
          <p:cNvSpPr/>
          <p:nvPr/>
        </p:nvSpPr>
        <p:spPr>
          <a:xfrm>
            <a:off x="6137910" y="3374136"/>
            <a:ext cx="233172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XGBoost leads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8"/>
          <p:cNvSpPr/>
          <p:nvPr/>
        </p:nvSpPr>
        <p:spPr>
          <a:xfrm>
            <a:off x="6137910" y="362102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EAD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FBEAD9"/>
                </a:solidFill>
                <a:latin typeface="Calibri"/>
                <a:ea typeface="Calibri"/>
                <a:cs typeface="Calibri"/>
                <a:sym typeface="Calibri"/>
              </a:rPr>
              <a:t>R² 0.885  ·  MAE $72,098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8"/>
          <p:cNvSpPr/>
          <p:nvPr/>
        </p:nvSpPr>
        <p:spPr>
          <a:xfrm>
            <a:off x="6137910" y="3922776"/>
            <a:ext cx="233172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Highest R² and among the lowest error, ahead of Random Forest and Gradient Boosting; captures nonlinear patterns and benefits most from the engineered features.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8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8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/>
          <p:cNvSpPr/>
          <p:nvPr/>
        </p:nvSpPr>
        <p:spPr>
          <a:xfrm>
            <a:off x="411480" y="288036"/>
            <a:ext cx="54864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7B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C97B4A"/>
                </a:solidFill>
                <a:latin typeface="Calibri"/>
                <a:ea typeface="Calibri"/>
                <a:cs typeface="Calibri"/>
                <a:sym typeface="Calibri"/>
              </a:rPr>
              <a:t>OPTIMIZATION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11480" y="480060"/>
            <a:ext cx="79552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300"/>
              <a:buFont typeface="Cambria"/>
              <a:buNone/>
            </a:pPr>
            <a:r>
              <a:rPr b="1" lang="en" sz="2300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Hyperparameter Tuning — n_estimators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62990"/>
            <a:ext cx="4114800" cy="356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150" y="1062990"/>
            <a:ext cx="4114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9"/>
          <p:cNvSpPr/>
          <p:nvPr/>
        </p:nvSpPr>
        <p:spPr>
          <a:xfrm>
            <a:off x="342900" y="4697730"/>
            <a:ext cx="0" cy="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411480" y="4608576"/>
            <a:ext cx="8366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R² improved 0.885 → 0.898 (+1.3%)  </a:t>
            </a:r>
            <a:r>
              <a:rPr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1" lang="en" sz="9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MAE fell $72,098 → $66,470 (−7.8%) </a:t>
            </a:r>
            <a:r>
              <a:rPr lang="en" sz="900">
                <a:solidFill>
                  <a:srgbClr val="5C7285"/>
                </a:solidFill>
                <a:latin typeface="Calibri"/>
                <a:ea typeface="Calibri"/>
                <a:cs typeface="Calibri"/>
                <a:sym typeface="Calibri"/>
              </a:rPr>
              <a:t>as trees increased from 100 to 500 — more boosting rounds let XGBoost learn deeper patterns, with gains flattening after 400.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/>
          <p:nvPr/>
        </p:nvSpPr>
        <p:spPr>
          <a:xfrm>
            <a:off x="342900" y="4855464"/>
            <a:ext cx="48006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House Price Prediction — ML Regression Project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9"/>
          <p:cNvSpPr/>
          <p:nvPr/>
        </p:nvSpPr>
        <p:spPr>
          <a:xfrm>
            <a:off x="8457971" y="4855464"/>
            <a:ext cx="3429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00"/>
              <a:buFont typeface="Calibri"/>
              <a:buNone/>
            </a:pPr>
            <a:r>
              <a:rPr lang="en" sz="7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0" title="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976" y="-1"/>
            <a:ext cx="92079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0"/>
          <p:cNvSpPr txBox="1"/>
          <p:nvPr>
            <p:ph type="title"/>
          </p:nvPr>
        </p:nvSpPr>
        <p:spPr>
          <a:xfrm>
            <a:off x="3329100" y="2021850"/>
            <a:ext cx="2485800" cy="10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THANK YOU!</a:t>
            </a:r>
            <a:endParaRPr sz="28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